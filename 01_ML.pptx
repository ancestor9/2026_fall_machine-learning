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4"/>
  </p:notesMasterIdLst>
  <p:handoutMasterIdLst>
    <p:handoutMasterId r:id="rId15"/>
  </p:handoutMasterIdLst>
  <p:sldIdLst>
    <p:sldId id="256" r:id="rId2"/>
    <p:sldId id="1136" r:id="rId3"/>
    <p:sldId id="1138" r:id="rId4"/>
    <p:sldId id="1140" r:id="rId5"/>
    <p:sldId id="1142" r:id="rId6"/>
    <p:sldId id="1141" r:id="rId7"/>
    <p:sldId id="1143" r:id="rId8"/>
    <p:sldId id="1144" r:id="rId9"/>
    <p:sldId id="1147" r:id="rId10"/>
    <p:sldId id="1146" r:id="rId11"/>
    <p:sldId id="1145" r:id="rId12"/>
    <p:sldId id="1148" r:id="rId1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8"/>
            <p14:sldId id="1140"/>
            <p14:sldId id="1142"/>
            <p14:sldId id="1141"/>
            <p14:sldId id="1143"/>
            <p14:sldId id="1144"/>
            <p14:sldId id="1147"/>
            <p14:sldId id="1146"/>
            <p14:sldId id="1145"/>
            <p14:sldId id="114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B45"/>
    <a:srgbClr val="76E3FF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200" d="100"/>
        <a:sy n="200" d="100"/>
      </p:scale>
      <p:origin x="0" y="-11736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2026-07-14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2026-07-14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7/14/2026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2026-07-14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mpetitions/spaceship-titanic/data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hyperlink" Target="https://www.kaggle.com/competitions/spaceship-titanic/data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Machine Learning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0" y="1248422"/>
            <a:ext cx="10100629" cy="958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/>
              <a:t>머신러닝</a:t>
            </a:r>
            <a:r>
              <a:rPr lang="ko-KR" altLang="en-US" sz="2000" dirty="0"/>
              <a:t> 알고리즘</a:t>
            </a:r>
            <a:endParaRPr lang="en-US" altLang="ko-KR" sz="2000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분산과 편향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67BA-883A-F760-A852-48089498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5E88B-6D21-127E-3DF6-DC200AC3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151A18-B816-E6A4-DE0E-617FB6906B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5D88C-08F5-7F76-9775-DBDAFF7DBE0E}"/>
              </a:ext>
            </a:extLst>
          </p:cNvPr>
          <p:cNvSpPr txBox="1"/>
          <p:nvPr/>
        </p:nvSpPr>
        <p:spPr>
          <a:xfrm>
            <a:off x="682483" y="1265622"/>
            <a:ext cx="11159285" cy="1531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정보가 없다면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sample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Gender 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정보를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바탕으로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sample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Gender 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데이터를 자료 표준화를 하게 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sample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Gender 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자료 표준화를 하여야 하는가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이유는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8510A1F-0F04-5A60-9B8D-3CFF4B9BC8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5025059"/>
              </p:ext>
            </p:extLst>
          </p:nvPr>
        </p:nvGraphicFramePr>
        <p:xfrm>
          <a:off x="1327150" y="3614017"/>
          <a:ext cx="4235451" cy="22631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01750">
                  <a:extLst>
                    <a:ext uri="{9D8B030D-6E8A-4147-A177-3AD203B41FA5}">
                      <a16:colId xmlns:a16="http://schemas.microsoft.com/office/drawing/2014/main" val="885975056"/>
                    </a:ext>
                  </a:extLst>
                </a:gridCol>
                <a:gridCol w="1466850">
                  <a:extLst>
                    <a:ext uri="{9D8B030D-6E8A-4147-A177-3AD203B41FA5}">
                      <a16:colId xmlns:a16="http://schemas.microsoft.com/office/drawing/2014/main" val="1709360057"/>
                    </a:ext>
                  </a:extLst>
                </a:gridCol>
                <a:gridCol w="1466851">
                  <a:extLst>
                    <a:ext uri="{9D8B030D-6E8A-4147-A177-3AD203B41FA5}">
                      <a16:colId xmlns:a16="http://schemas.microsoft.com/office/drawing/2014/main" val="4220822261"/>
                    </a:ext>
                  </a:extLst>
                </a:gridCol>
              </a:tblGrid>
              <a:tr h="2493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Person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height (feet)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weight (</a:t>
                      </a:r>
                      <a:r>
                        <a:rPr lang="en-US" sz="1600" u="none" strike="noStrike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lbs</a:t>
                      </a:r>
                      <a:r>
                        <a:rPr lang="en-US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26446257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6.00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180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210223782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5.92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190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50078898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male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5.58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170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85846155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5.92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165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417384479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5.00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50173341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5.50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855513846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5.42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130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944482687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5.75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239538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AF547DD7-A831-AB53-D64A-DC76354418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1790364"/>
              </p:ext>
            </p:extLst>
          </p:nvPr>
        </p:nvGraphicFramePr>
        <p:xfrm>
          <a:off x="6365875" y="3614017"/>
          <a:ext cx="3860800" cy="50292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406525">
                  <a:extLst>
                    <a:ext uri="{9D8B030D-6E8A-4147-A177-3AD203B41FA5}">
                      <a16:colId xmlns:a16="http://schemas.microsoft.com/office/drawing/2014/main" val="214176904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955651386"/>
                    </a:ext>
                  </a:extLst>
                </a:gridCol>
                <a:gridCol w="1139825">
                  <a:extLst>
                    <a:ext uri="{9D8B030D-6E8A-4147-A177-3AD203B41FA5}">
                      <a16:colId xmlns:a16="http://schemas.microsoft.com/office/drawing/2014/main" val="2144013788"/>
                    </a:ext>
                  </a:extLst>
                </a:gridCol>
              </a:tblGrid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Person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height (feet)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weight (lbs)</a:t>
                      </a:r>
                      <a:endParaRPr lang="en-US" sz="1600" b="1" i="0" u="none" strike="noStrike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747279706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sample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</a:rPr>
                        <a:t>6</a:t>
                      </a:r>
                      <a:endParaRPr lang="en-US" altLang="ko-KR" sz="1600" b="1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</a:rPr>
                        <a:t>130</a:t>
                      </a:r>
                      <a:endParaRPr lang="en-US" altLang="ko-KR" sz="1600" b="1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265383"/>
                  </a:ext>
                </a:extLst>
              </a:tr>
            </a:tbl>
          </a:graphicData>
        </a:graphic>
      </p:graphicFrame>
      <p:sp>
        <p:nvSpPr>
          <p:cNvPr id="36" name="설명선: 굽은 선 35">
            <a:extLst>
              <a:ext uri="{FF2B5EF4-FFF2-40B4-BE49-F238E27FC236}">
                <a16:creationId xmlns:a16="http://schemas.microsoft.com/office/drawing/2014/main" id="{B5A89777-497B-586C-307A-6748DC4C2E63}"/>
              </a:ext>
            </a:extLst>
          </p:cNvPr>
          <p:cNvSpPr/>
          <p:nvPr/>
        </p:nvSpPr>
        <p:spPr>
          <a:xfrm>
            <a:off x="8372474" y="4406063"/>
            <a:ext cx="3362325" cy="1471094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1515"/>
              <a:gd name="adj6" fmla="val -34486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알고리즘으로 엑셀과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scikit-learn API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사용하여 새로운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sample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성별을 분류하라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유클리디언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거리를 기준으로 계산하라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6B7317-77B2-5CFF-0EA3-7EF0074235BB}"/>
              </a:ext>
            </a:extLst>
          </p:cNvPr>
          <p:cNvSpPr txBox="1"/>
          <p:nvPr/>
        </p:nvSpPr>
        <p:spPr>
          <a:xfrm>
            <a:off x="1819275" y="3217521"/>
            <a:ext cx="29622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Stratified random sample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0B38579-F127-3A67-99E4-A8B417515B38}"/>
              </a:ext>
            </a:extLst>
          </p:cNvPr>
          <p:cNvSpPr txBox="1"/>
          <p:nvPr/>
        </p:nvSpPr>
        <p:spPr>
          <a:xfrm>
            <a:off x="7643293" y="3223004"/>
            <a:ext cx="16912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Unseen data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8986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D1FD8-DDDE-D46C-F483-B95BB7228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FED52-3A9D-4E8A-C952-04400A4BE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2D2F70B-2D4D-DE82-D89A-C870A783DD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9FDCC6F5-EBFB-E18A-DC45-FD5CBFA419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6142" y="1872349"/>
            <a:ext cx="5352533" cy="4163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9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78340-1C2F-FFA7-AD02-E6840B338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79B4437E-EE2B-249B-4512-CE616CC49B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631" y="1872349"/>
            <a:ext cx="5675946" cy="4163912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F2485A-BA7F-DF80-81C4-731B6FCEB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A8BD03C-7897-3ADF-DBB8-C683070E49F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51A0BA2C-7AFE-8939-2057-AB952CBD7A7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7051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AB13D85E-94AF-6BE6-FB0E-DC06EEB99B34}"/>
              </a:ext>
            </a:extLst>
          </p:cNvPr>
          <p:cNvSpPr/>
          <p:nvPr/>
        </p:nvSpPr>
        <p:spPr>
          <a:xfrm>
            <a:off x="5705475" y="3146266"/>
            <a:ext cx="2495031" cy="2495031"/>
          </a:xfrm>
          <a:prstGeom prst="ellipse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732797B4-282B-80AF-D616-C76DA940FFD0}"/>
              </a:ext>
            </a:extLst>
          </p:cNvPr>
          <p:cNvSpPr/>
          <p:nvPr/>
        </p:nvSpPr>
        <p:spPr>
          <a:xfrm>
            <a:off x="6105525" y="3581401"/>
            <a:ext cx="1666875" cy="1666875"/>
          </a:xfrm>
          <a:prstGeom prst="ellipse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0860B7F7-FE5C-093E-9CE3-AA653BE500B9}"/>
              </a:ext>
            </a:extLst>
          </p:cNvPr>
          <p:cNvSpPr/>
          <p:nvPr/>
        </p:nvSpPr>
        <p:spPr>
          <a:xfrm>
            <a:off x="5445284" y="2876550"/>
            <a:ext cx="3017631" cy="3017631"/>
          </a:xfrm>
          <a:prstGeom prst="ellipse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25259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33420-18F5-1092-7B7B-CAE564DA3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C3FCAE98-05C4-B7ED-3B2C-1D161A975E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6406" y="2310499"/>
            <a:ext cx="5675946" cy="4163912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497E0F-53CE-D7D8-1F17-10F5269CB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F36E095-E15C-A3BC-1558-E4FE1052A9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251DC36D-93F9-304A-A0C2-D143C7B0B7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63CAB1C-14CD-D85A-D25C-4B71368D72D1}"/>
              </a:ext>
            </a:extLst>
          </p:cNvPr>
          <p:cNvSpPr/>
          <p:nvPr/>
        </p:nvSpPr>
        <p:spPr>
          <a:xfrm>
            <a:off x="3724276" y="1649619"/>
            <a:ext cx="6390756" cy="6390756"/>
          </a:xfrm>
          <a:prstGeom prst="ellipse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63E33E74-649D-E6E7-9B6A-A5E9B027E34C}"/>
              </a:ext>
            </a:extLst>
          </p:cNvPr>
          <p:cNvSpPr/>
          <p:nvPr/>
        </p:nvSpPr>
        <p:spPr>
          <a:xfrm>
            <a:off x="6210300" y="4019551"/>
            <a:ext cx="1666875" cy="1666875"/>
          </a:xfrm>
          <a:prstGeom prst="ellipse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3CF2858-B22E-6FA7-238A-6150852E8A1E}"/>
              </a:ext>
            </a:extLst>
          </p:cNvPr>
          <p:cNvSpPr txBox="1"/>
          <p:nvPr/>
        </p:nvSpPr>
        <p:spPr>
          <a:xfrm>
            <a:off x="682483" y="1265622"/>
            <a:ext cx="11159285" cy="42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과적합인 경우는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Neighbor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몇 개인 경우인가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417953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7392B-A3C2-A442-5815-341AD8BE0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6FF19F5A-B2F2-7810-ECDD-96F2C59A8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6406" y="2310499"/>
            <a:ext cx="5675946" cy="4163912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77CC1F-E5AD-7E91-8BCD-E721992F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A4FC009-9464-1FC7-D892-9ACC4D3268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3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09DC0BBF-8356-CB34-E9B8-BFB7488DC10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789F97C5-92B5-4AB0-8AEB-D300FF46172B}"/>
              </a:ext>
            </a:extLst>
          </p:cNvPr>
          <p:cNvSpPr/>
          <p:nvPr/>
        </p:nvSpPr>
        <p:spPr>
          <a:xfrm>
            <a:off x="6210300" y="4019551"/>
            <a:ext cx="1666875" cy="1666875"/>
          </a:xfrm>
          <a:prstGeom prst="ellipse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D6D864-A1B9-6B64-0984-849A7EB586CE}"/>
              </a:ext>
            </a:extLst>
          </p:cNvPr>
          <p:cNvSpPr txBox="1"/>
          <p:nvPr/>
        </p:nvSpPr>
        <p:spPr>
          <a:xfrm>
            <a:off x="682483" y="1265622"/>
            <a:ext cx="1115928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거리를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유클리디언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거리가 아닌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L1, cosine similarity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거리로 하게 되면 어떻게 되는가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scikit-learn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모듈을 사용하여 분류 예측하라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8069F42-ABD1-5F0B-16F8-F2E4A04A6D75}"/>
              </a:ext>
            </a:extLst>
          </p:cNvPr>
          <p:cNvSpPr/>
          <p:nvPr/>
        </p:nvSpPr>
        <p:spPr>
          <a:xfrm>
            <a:off x="5743575" y="3579087"/>
            <a:ext cx="2582310" cy="2612165"/>
          </a:xfrm>
          <a:prstGeom prst="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B7A1740-F978-C5AA-6959-04BC5DB5A299}"/>
              </a:ext>
            </a:extLst>
          </p:cNvPr>
          <p:cNvCxnSpPr>
            <a:cxnSpLocks/>
          </p:cNvCxnSpPr>
          <p:nvPr/>
        </p:nvCxnSpPr>
        <p:spPr>
          <a:xfrm flipV="1">
            <a:off x="3409950" y="4547501"/>
            <a:ext cx="4705350" cy="1468554"/>
          </a:xfrm>
          <a:prstGeom prst="line">
            <a:avLst/>
          </a:prstGeom>
          <a:ln w="19050">
            <a:prstDash val="sysDash"/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89612839-A35F-1DAE-0CED-9BBCC72DC24B}"/>
              </a:ext>
            </a:extLst>
          </p:cNvPr>
          <p:cNvCxnSpPr>
            <a:cxnSpLocks/>
          </p:cNvCxnSpPr>
          <p:nvPr/>
        </p:nvCxnSpPr>
        <p:spPr>
          <a:xfrm flipV="1">
            <a:off x="3409950" y="5372100"/>
            <a:ext cx="918691" cy="643955"/>
          </a:xfrm>
          <a:prstGeom prst="line">
            <a:avLst/>
          </a:prstGeom>
          <a:ln w="19050">
            <a:prstDash val="sysDash"/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A940DDB7-C00A-05CD-D53B-641FD5F12108}"/>
              </a:ext>
            </a:extLst>
          </p:cNvPr>
          <p:cNvCxnSpPr>
            <a:cxnSpLocks/>
          </p:cNvCxnSpPr>
          <p:nvPr/>
        </p:nvCxnSpPr>
        <p:spPr>
          <a:xfrm flipV="1">
            <a:off x="3409950" y="4295775"/>
            <a:ext cx="3105150" cy="1720280"/>
          </a:xfrm>
          <a:prstGeom prst="line">
            <a:avLst/>
          </a:prstGeom>
          <a:ln w="19050">
            <a:prstDash val="sysDash"/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044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C909A-4BF1-77B2-E911-0B847032A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8D2617-BBD3-EFD0-4C71-284E796FB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C2D4C1-A45A-C38C-1734-7F0CEADE50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4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44B487-673F-6E37-E55A-E82DA4738A5C}"/>
              </a:ext>
            </a:extLst>
          </p:cNvPr>
          <p:cNvSpPr txBox="1"/>
          <p:nvPr/>
        </p:nvSpPr>
        <p:spPr>
          <a:xfrm>
            <a:off x="682483" y="1265622"/>
            <a:ext cx="11159285" cy="1531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정보가 없다면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sample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Gender 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정보를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바탕으로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sample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Gender 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데이터를 자료 표준화를 하게 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sample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Gender 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자료 표준화를 하여야 하는가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이유는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FA44251-8613-24F8-3D4C-D3F967958EE7}"/>
              </a:ext>
            </a:extLst>
          </p:cNvPr>
          <p:cNvGraphicFramePr>
            <a:graphicFrameLocks noGrp="1"/>
          </p:cNvGraphicFramePr>
          <p:nvPr/>
        </p:nvGraphicFramePr>
        <p:xfrm>
          <a:off x="1327150" y="3614017"/>
          <a:ext cx="4235451" cy="22631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01750">
                  <a:extLst>
                    <a:ext uri="{9D8B030D-6E8A-4147-A177-3AD203B41FA5}">
                      <a16:colId xmlns:a16="http://schemas.microsoft.com/office/drawing/2014/main" val="885975056"/>
                    </a:ext>
                  </a:extLst>
                </a:gridCol>
                <a:gridCol w="1466850">
                  <a:extLst>
                    <a:ext uri="{9D8B030D-6E8A-4147-A177-3AD203B41FA5}">
                      <a16:colId xmlns:a16="http://schemas.microsoft.com/office/drawing/2014/main" val="1709360057"/>
                    </a:ext>
                  </a:extLst>
                </a:gridCol>
                <a:gridCol w="1466851">
                  <a:extLst>
                    <a:ext uri="{9D8B030D-6E8A-4147-A177-3AD203B41FA5}">
                      <a16:colId xmlns:a16="http://schemas.microsoft.com/office/drawing/2014/main" val="4220822261"/>
                    </a:ext>
                  </a:extLst>
                </a:gridCol>
              </a:tblGrid>
              <a:tr h="2493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Person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height (feet)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weight (</a:t>
                      </a:r>
                      <a:r>
                        <a:rPr lang="en-US" sz="1600" u="none" strike="noStrike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lbs</a:t>
                      </a:r>
                      <a:r>
                        <a:rPr lang="en-US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26446257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6.00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180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210223782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5.92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190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50078898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male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5.58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170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85846155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5.92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165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417384479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5.00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50173341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5.50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855513846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5.42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130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944482687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5.75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239538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DF62C6DB-26D7-B10F-C7AD-2F06C99E2F23}"/>
              </a:ext>
            </a:extLst>
          </p:cNvPr>
          <p:cNvGraphicFramePr>
            <a:graphicFrameLocks noGrp="1"/>
          </p:cNvGraphicFramePr>
          <p:nvPr/>
        </p:nvGraphicFramePr>
        <p:xfrm>
          <a:off x="6365875" y="3614017"/>
          <a:ext cx="3860800" cy="50292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406525">
                  <a:extLst>
                    <a:ext uri="{9D8B030D-6E8A-4147-A177-3AD203B41FA5}">
                      <a16:colId xmlns:a16="http://schemas.microsoft.com/office/drawing/2014/main" val="214176904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955651386"/>
                    </a:ext>
                  </a:extLst>
                </a:gridCol>
                <a:gridCol w="1139825">
                  <a:extLst>
                    <a:ext uri="{9D8B030D-6E8A-4147-A177-3AD203B41FA5}">
                      <a16:colId xmlns:a16="http://schemas.microsoft.com/office/drawing/2014/main" val="2144013788"/>
                    </a:ext>
                  </a:extLst>
                </a:gridCol>
              </a:tblGrid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Person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height (feet)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weight (lbs)</a:t>
                      </a:r>
                      <a:endParaRPr lang="en-US" sz="1600" b="1" i="0" u="none" strike="noStrike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747279706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sample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</a:rPr>
                        <a:t>6</a:t>
                      </a:r>
                      <a:endParaRPr lang="en-US" altLang="ko-KR" sz="1600" b="1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</a:rPr>
                        <a:t>130</a:t>
                      </a:r>
                      <a:endParaRPr lang="en-US" altLang="ko-KR" sz="1600" b="1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265383"/>
                  </a:ext>
                </a:extLst>
              </a:tr>
            </a:tbl>
          </a:graphicData>
        </a:graphic>
      </p:graphicFrame>
      <p:sp>
        <p:nvSpPr>
          <p:cNvPr id="36" name="설명선: 굽은 선 35">
            <a:extLst>
              <a:ext uri="{FF2B5EF4-FFF2-40B4-BE49-F238E27FC236}">
                <a16:creationId xmlns:a16="http://schemas.microsoft.com/office/drawing/2014/main" id="{6003F766-1218-812A-A9D4-69B850E24D11}"/>
              </a:ext>
            </a:extLst>
          </p:cNvPr>
          <p:cNvSpPr/>
          <p:nvPr/>
        </p:nvSpPr>
        <p:spPr>
          <a:xfrm>
            <a:off x="8372474" y="4406063"/>
            <a:ext cx="3362325" cy="1471094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1515"/>
              <a:gd name="adj6" fmla="val -34486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Naïve Bayes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알고리즘으로 엑셀과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scikit-learn API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사용하여 새로운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sample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성별을 분류하라</a:t>
            </a:r>
            <a:endParaRPr lang="ko-KR" altLang="en-US" sz="14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7A95FFE-CD9C-3402-9416-F5D0BA6A9FBD}"/>
              </a:ext>
            </a:extLst>
          </p:cNvPr>
          <p:cNvSpPr txBox="1"/>
          <p:nvPr/>
        </p:nvSpPr>
        <p:spPr>
          <a:xfrm>
            <a:off x="1819275" y="3217521"/>
            <a:ext cx="29622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Stratified random sample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655DC5A-C8E6-16E3-917E-CAD5BFE18B1B}"/>
              </a:ext>
            </a:extLst>
          </p:cNvPr>
          <p:cNvSpPr txBox="1"/>
          <p:nvPr/>
        </p:nvSpPr>
        <p:spPr>
          <a:xfrm>
            <a:off x="7643293" y="3223004"/>
            <a:ext cx="16912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Unseen data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35177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CA272-18AB-D4DF-40BA-4FD3CA93C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01F5DB-E355-D5B7-C9E3-0B2DF9B65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B1414A4-F3D7-4A6F-8825-1C6CD0BD4CC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4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82043F-16F6-4C70-8C52-2EE6552CB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2037438"/>
            <a:ext cx="11040080" cy="2783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732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0FBC5-61A6-064C-E995-C04B95A55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175F6-CA2E-772B-52B9-9ECD751F4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A14900B-7995-DBD1-1F56-03A9FD89F3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4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EEFFA98-C40E-81E0-27EB-754AFEFDE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687" y="2678011"/>
            <a:ext cx="11096625" cy="27973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38D2002-0AC6-F909-3C83-92862CAD16F1}"/>
              </a:ext>
            </a:extLst>
          </p:cNvPr>
          <p:cNvSpPr txBox="1"/>
          <p:nvPr/>
        </p:nvSpPr>
        <p:spPr>
          <a:xfrm>
            <a:off x="475644" y="1242784"/>
            <a:ext cx="110966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전처리를 할 때는 남성과 여성을 다 합친 전체 데이터를 기준으로 평균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만들면 되며 아래 그림은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Min-Max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자료를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scaling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것임</a:t>
            </a:r>
          </a:p>
        </p:txBody>
      </p:sp>
    </p:spTree>
    <p:extLst>
      <p:ext uri="{BB962C8B-B14F-4D97-AF65-F5344CB8AC3E}">
        <p14:creationId xmlns:p14="http://schemas.microsoft.com/office/powerpoint/2010/main" val="17311334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63FB0-E7FB-3AEB-DCCD-669F3E94F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98B9FB-1842-4F32-E8B7-C4ACC43D5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76CDD5B-F7FB-AA49-3923-6A569A0A37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4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5D730A1-1FC2-4F26-6E84-98CE14083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972" y="2194781"/>
            <a:ext cx="7102455" cy="42066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31F6EF7-4365-6059-768B-5738EEBB3211}"/>
              </a:ext>
            </a:extLst>
          </p:cNvPr>
          <p:cNvSpPr txBox="1"/>
          <p:nvPr/>
        </p:nvSpPr>
        <p:spPr>
          <a:xfrm>
            <a:off x="475645" y="1352269"/>
            <a:ext cx="87731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전체 데이터를 기준으로 평균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분산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로 자료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scaling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8E8075-31B6-651C-7AD0-DB89EF28BACD}"/>
              </a:ext>
            </a:extLst>
          </p:cNvPr>
          <p:cNvSpPr txBox="1"/>
          <p:nvPr/>
        </p:nvSpPr>
        <p:spPr>
          <a:xfrm>
            <a:off x="8629650" y="2619375"/>
            <a:ext cx="2435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3"/>
              </a:rPr>
              <a:t>spaceship-titanic/data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824831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CB778-0F8E-135E-C7C5-9A482B60E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9AE7E6-59D4-3AD4-63F8-847BCE0E1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3896456-520A-5A75-40AD-00752BBF852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5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7FC1A6-3830-BF8B-7718-D631B78A0E0D}"/>
              </a:ext>
            </a:extLst>
          </p:cNvPr>
          <p:cNvSpPr txBox="1"/>
          <p:nvPr/>
        </p:nvSpPr>
        <p:spPr>
          <a:xfrm>
            <a:off x="552147" y="1196721"/>
            <a:ext cx="11087705" cy="79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Kaggle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데이터를 바탕으로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Problem definition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설정하고 데이터 전처리를 통해 여러 모델을 적용하여 평가하고 최적의 예측모델을 선택하라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모델의 평가기준과 그 이유를 설명하라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D4D7CB-FEBC-3203-84A1-0FAA59B4ABC9}"/>
              </a:ext>
            </a:extLst>
          </p:cNvPr>
          <p:cNvSpPr txBox="1"/>
          <p:nvPr/>
        </p:nvSpPr>
        <p:spPr>
          <a:xfrm>
            <a:off x="595969" y="2518228"/>
            <a:ext cx="3531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Obtain spaceship-titanic/data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43230967-4E21-E44C-308D-A23B2CABDF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970" y="2929964"/>
            <a:ext cx="4328976" cy="2164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90F610BD-F639-E07B-8371-B7FFFCBC87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7934" y="2092899"/>
            <a:ext cx="4752366" cy="4679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3766425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10506</TotalTime>
  <Words>352</Words>
  <Application>Microsoft Office PowerPoint</Application>
  <PresentationFormat>와이드스크린</PresentationFormat>
  <Paragraphs>115</Paragraphs>
  <Slides>12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8" baseType="lpstr">
      <vt:lpstr>D2Coding</vt:lpstr>
      <vt:lpstr>맑은 고딕</vt:lpstr>
      <vt:lpstr>Batang</vt:lpstr>
      <vt:lpstr>Arial</vt:lpstr>
      <vt:lpstr>Wingdings</vt:lpstr>
      <vt:lpstr>WelcomeDoc</vt:lpstr>
      <vt:lpstr>Machine Learning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174</cp:revision>
  <dcterms:created xsi:type="dcterms:W3CDTF">2026-04-06T01:00:39Z</dcterms:created>
  <dcterms:modified xsi:type="dcterms:W3CDTF">2026-07-14T06:37:14Z</dcterms:modified>
  <cp:version/>
</cp:coreProperties>
</file>