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1136" r:id="rId3"/>
    <p:sldId id="1138" r:id="rId4"/>
    <p:sldId id="1140" r:id="rId5"/>
    <p:sldId id="1142" r:id="rId6"/>
    <p:sldId id="1141" r:id="rId7"/>
    <p:sldId id="1143" r:id="rId8"/>
    <p:sldId id="1144" r:id="rId9"/>
    <p:sldId id="1145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8"/>
            <p14:sldId id="1140"/>
            <p14:sldId id="1142"/>
            <p14:sldId id="1141"/>
            <p14:sldId id="1143"/>
            <p14:sldId id="1144"/>
            <p14:sldId id="114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76E3FF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679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2026-07-14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2026-07-14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2026-07-14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Machine Learning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0" y="1248422"/>
            <a:ext cx="10100629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/>
              <a:t>머신러닝</a:t>
            </a:r>
            <a:r>
              <a:rPr lang="ko-KR" altLang="en-US" sz="2000" dirty="0"/>
              <a:t> 알고리즘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/>
              <a:t>분산과 편향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5D88C-08F5-7F76-9775-DBDAFF7DBE0E}"/>
              </a:ext>
            </a:extLst>
          </p:cNvPr>
          <p:cNvSpPr txBox="1"/>
          <p:nvPr/>
        </p:nvSpPr>
        <p:spPr>
          <a:xfrm>
            <a:off x="682483" y="1265622"/>
            <a:ext cx="11159285" cy="1531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정보가 없다면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Gender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정보를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바탕으로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Gender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데이터를 자료 표준화를 하게 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Gender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표준화를 하여야 하는가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 이유는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8510A1F-0F04-5A60-9B8D-3CFF4B9B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25059"/>
              </p:ext>
            </p:extLst>
          </p:nvPr>
        </p:nvGraphicFramePr>
        <p:xfrm>
          <a:off x="1327150" y="3614017"/>
          <a:ext cx="4235451" cy="2263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885975056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709360057"/>
                    </a:ext>
                  </a:extLst>
                </a:gridCol>
                <a:gridCol w="1466851">
                  <a:extLst>
                    <a:ext uri="{9D8B030D-6E8A-4147-A177-3AD203B41FA5}">
                      <a16:colId xmlns:a16="http://schemas.microsoft.com/office/drawing/2014/main" val="4220822261"/>
                    </a:ext>
                  </a:extLst>
                </a:gridCol>
              </a:tblGrid>
              <a:tr h="249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Person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height (feet)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weight (</a:t>
                      </a:r>
                      <a:r>
                        <a:rPr lang="en-US" sz="16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lbs</a:t>
                      </a: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26446257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6.00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180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0223782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5.92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190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50078898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5.58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170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85846155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5.92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165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17384479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5.00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50173341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5.50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5513846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5.42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130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4482687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5.75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239538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F547DD7-A831-AB53-D64A-DC7635441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790364"/>
              </p:ext>
            </p:extLst>
          </p:nvPr>
        </p:nvGraphicFramePr>
        <p:xfrm>
          <a:off x="6365875" y="3614017"/>
          <a:ext cx="3860800" cy="5029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406525">
                  <a:extLst>
                    <a:ext uri="{9D8B030D-6E8A-4147-A177-3AD203B41FA5}">
                      <a16:colId xmlns:a16="http://schemas.microsoft.com/office/drawing/2014/main" val="21417690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55651386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14401378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Person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height (feet)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weight (lbs)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72797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sample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</a:rPr>
                        <a:t>6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</a:rPr>
                        <a:t>130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65383"/>
                  </a:ext>
                </a:extLst>
              </a:tr>
            </a:tbl>
          </a:graphicData>
        </a:graphic>
      </p:graphicFrame>
      <p:sp>
        <p:nvSpPr>
          <p:cNvPr id="36" name="설명선: 굽은 선 35">
            <a:extLst>
              <a:ext uri="{FF2B5EF4-FFF2-40B4-BE49-F238E27FC236}">
                <a16:creationId xmlns:a16="http://schemas.microsoft.com/office/drawing/2014/main" id="{B5A89777-497B-586C-307A-6748DC4C2E63}"/>
              </a:ext>
            </a:extLst>
          </p:cNvPr>
          <p:cNvSpPr/>
          <p:nvPr/>
        </p:nvSpPr>
        <p:spPr>
          <a:xfrm>
            <a:off x="8372474" y="4406063"/>
            <a:ext cx="3362325" cy="147109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515"/>
              <a:gd name="adj6" fmla="val -3448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알고리즘으로 엑셀과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 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새로운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sample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성별을 분류하라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유클리디언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거리를 기준으로 계산하라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6B7317-77B2-5CFF-0EA3-7EF0074235BB}"/>
              </a:ext>
            </a:extLst>
          </p:cNvPr>
          <p:cNvSpPr txBox="1"/>
          <p:nvPr/>
        </p:nvSpPr>
        <p:spPr>
          <a:xfrm>
            <a:off x="1819275" y="3217521"/>
            <a:ext cx="2962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Stratified random sample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B38579-F127-3A67-99E4-A8B417515B38}"/>
              </a:ext>
            </a:extLst>
          </p:cNvPr>
          <p:cNvSpPr txBox="1"/>
          <p:nvPr/>
        </p:nvSpPr>
        <p:spPr>
          <a:xfrm>
            <a:off x="7643293" y="3223004"/>
            <a:ext cx="1691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Unseen data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D1FD8-DDDE-D46C-F483-B95BB722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FED52-3A9D-4E8A-C952-04400A4B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2D2F70B-2D4D-DE82-D89A-C870A783DDB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FDCC6F5-EBFB-E18A-DC45-FD5CBFA4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142" y="1872349"/>
            <a:ext cx="5352533" cy="416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8340-1C2F-FFA7-AD02-E6840B338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9B4437E-EE2B-249B-4512-CE616CC4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631" y="1872349"/>
            <a:ext cx="5675946" cy="41639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2485A-BA7F-DF80-81C4-731B6FCE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A8BD03C-7897-3ADF-DBB8-C683070E49F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1A0BA2C-7AFE-8939-2057-AB952CBD7A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051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B13D85E-94AF-6BE6-FB0E-DC06EEB99B34}"/>
              </a:ext>
            </a:extLst>
          </p:cNvPr>
          <p:cNvSpPr/>
          <p:nvPr/>
        </p:nvSpPr>
        <p:spPr>
          <a:xfrm>
            <a:off x="5705475" y="3146266"/>
            <a:ext cx="2495031" cy="2495031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32797B4-282B-80AF-D616-C76DA940FFD0}"/>
              </a:ext>
            </a:extLst>
          </p:cNvPr>
          <p:cNvSpPr/>
          <p:nvPr/>
        </p:nvSpPr>
        <p:spPr>
          <a:xfrm>
            <a:off x="6105525" y="3581401"/>
            <a:ext cx="1666875" cy="1666875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860B7F7-FE5C-093E-9CE3-AA653BE500B9}"/>
              </a:ext>
            </a:extLst>
          </p:cNvPr>
          <p:cNvSpPr/>
          <p:nvPr/>
        </p:nvSpPr>
        <p:spPr>
          <a:xfrm>
            <a:off x="5445284" y="2876550"/>
            <a:ext cx="3017631" cy="3017631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525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3420-18F5-1092-7B7B-CAE564DA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3FCAE98-05C4-B7ED-3B2C-1D161A975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06" y="2310499"/>
            <a:ext cx="5675946" cy="41639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97E0F-53CE-D7D8-1F17-10F5269C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F36E095-E15C-A3BC-1558-E4FE1052A9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2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51DC36D-93F9-304A-A0C2-D143C7B0B7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63CAB1C-14CD-D85A-D25C-4B71368D72D1}"/>
              </a:ext>
            </a:extLst>
          </p:cNvPr>
          <p:cNvSpPr/>
          <p:nvPr/>
        </p:nvSpPr>
        <p:spPr>
          <a:xfrm>
            <a:off x="3724276" y="1649619"/>
            <a:ext cx="6390756" cy="6390756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3E33E74-649D-E6E7-9B6A-A5E9B027E34C}"/>
              </a:ext>
            </a:extLst>
          </p:cNvPr>
          <p:cNvSpPr/>
          <p:nvPr/>
        </p:nvSpPr>
        <p:spPr>
          <a:xfrm>
            <a:off x="6210300" y="4019551"/>
            <a:ext cx="1666875" cy="1666875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F2858-B22E-6FA7-238A-6150852E8A1E}"/>
              </a:ext>
            </a:extLst>
          </p:cNvPr>
          <p:cNvSpPr txBox="1"/>
          <p:nvPr/>
        </p:nvSpPr>
        <p:spPr>
          <a:xfrm>
            <a:off x="682483" y="1265622"/>
            <a:ext cx="11159285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과적합인 경우는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Neighbor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몇 개인 경우인가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1795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392B-A3C2-A442-5815-341AD8BE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F19F5A-B2F2-7810-ECDD-96F2C59A8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06" y="2310499"/>
            <a:ext cx="5675946" cy="41639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7CC1F-E5AD-7E91-8BCD-E721992F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A4FC009-9464-1FC7-D892-9ACC4D3268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3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9DC0BBF-8356-CB34-E9B8-BFB7488DC1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89F97C5-92B5-4AB0-8AEB-D300FF46172B}"/>
              </a:ext>
            </a:extLst>
          </p:cNvPr>
          <p:cNvSpPr/>
          <p:nvPr/>
        </p:nvSpPr>
        <p:spPr>
          <a:xfrm>
            <a:off x="6210300" y="4019551"/>
            <a:ext cx="1666875" cy="1666875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D6D864-A1B9-6B64-0984-849A7EB586CE}"/>
              </a:ext>
            </a:extLst>
          </p:cNvPr>
          <p:cNvSpPr txBox="1"/>
          <p:nvPr/>
        </p:nvSpPr>
        <p:spPr>
          <a:xfrm>
            <a:off x="682483" y="1265622"/>
            <a:ext cx="1115928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거리를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유클리디언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거리가 아닌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L1, cosine similarity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거리로 하게 되면 어떻게 되는가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모듈을 사용하여 분류 예측하라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69F42-ABD1-5F0B-16F8-F2E4A04A6D75}"/>
              </a:ext>
            </a:extLst>
          </p:cNvPr>
          <p:cNvSpPr/>
          <p:nvPr/>
        </p:nvSpPr>
        <p:spPr>
          <a:xfrm>
            <a:off x="5743575" y="3579087"/>
            <a:ext cx="2582310" cy="261216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B7A1740-F978-C5AA-6959-04BC5DB5A299}"/>
              </a:ext>
            </a:extLst>
          </p:cNvPr>
          <p:cNvCxnSpPr>
            <a:cxnSpLocks/>
          </p:cNvCxnSpPr>
          <p:nvPr/>
        </p:nvCxnSpPr>
        <p:spPr>
          <a:xfrm flipV="1">
            <a:off x="3409950" y="4547501"/>
            <a:ext cx="4705350" cy="1468554"/>
          </a:xfrm>
          <a:prstGeom prst="line">
            <a:avLst/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9612839-A35F-1DAE-0CED-9BBCC72DC24B}"/>
              </a:ext>
            </a:extLst>
          </p:cNvPr>
          <p:cNvCxnSpPr>
            <a:cxnSpLocks/>
          </p:cNvCxnSpPr>
          <p:nvPr/>
        </p:nvCxnSpPr>
        <p:spPr>
          <a:xfrm flipV="1">
            <a:off x="3409950" y="5372100"/>
            <a:ext cx="918691" cy="643955"/>
          </a:xfrm>
          <a:prstGeom prst="line">
            <a:avLst/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940DDB7-C00A-05CD-D53B-641FD5F12108}"/>
              </a:ext>
            </a:extLst>
          </p:cNvPr>
          <p:cNvCxnSpPr>
            <a:cxnSpLocks/>
          </p:cNvCxnSpPr>
          <p:nvPr/>
        </p:nvCxnSpPr>
        <p:spPr>
          <a:xfrm flipV="1">
            <a:off x="3409950" y="4295775"/>
            <a:ext cx="3105150" cy="1720280"/>
          </a:xfrm>
          <a:prstGeom prst="line">
            <a:avLst/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4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909A-4BF1-77B2-E911-0B847032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D2617-BBD3-EFD0-4C71-284E796FB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C2D4C1-A45A-C38C-1734-7F0CEADE50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4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4B487-673F-6E37-E55A-E82DA4738A5C}"/>
              </a:ext>
            </a:extLst>
          </p:cNvPr>
          <p:cNvSpPr txBox="1"/>
          <p:nvPr/>
        </p:nvSpPr>
        <p:spPr>
          <a:xfrm>
            <a:off x="682483" y="1265622"/>
            <a:ext cx="11159285" cy="1531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정보가 없다면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Gender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정보를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바탕으로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Gender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데이터를 자료 표준화를 하게 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Gender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표준화를 하여야 하는가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 이유는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A44251-8613-24F8-3D4C-D3F967958EE7}"/>
              </a:ext>
            </a:extLst>
          </p:cNvPr>
          <p:cNvGraphicFramePr>
            <a:graphicFrameLocks noGrp="1"/>
          </p:cNvGraphicFramePr>
          <p:nvPr/>
        </p:nvGraphicFramePr>
        <p:xfrm>
          <a:off x="1327150" y="3614017"/>
          <a:ext cx="4235451" cy="2263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885975056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709360057"/>
                    </a:ext>
                  </a:extLst>
                </a:gridCol>
                <a:gridCol w="1466851">
                  <a:extLst>
                    <a:ext uri="{9D8B030D-6E8A-4147-A177-3AD203B41FA5}">
                      <a16:colId xmlns:a16="http://schemas.microsoft.com/office/drawing/2014/main" val="4220822261"/>
                    </a:ext>
                  </a:extLst>
                </a:gridCol>
              </a:tblGrid>
              <a:tr h="249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Person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height (feet)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weight (</a:t>
                      </a:r>
                      <a:r>
                        <a:rPr lang="en-US" sz="16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lbs</a:t>
                      </a: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26446257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6.00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180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0223782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5.92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190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50078898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5.58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170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85846155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5.92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165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17384479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5.00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50173341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5.50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5513846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5.42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130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4482687"/>
                  </a:ext>
                </a:extLst>
              </a:tr>
              <a:tr h="249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5.75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239538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F62C6DB-26D7-B10F-C7AD-2F06C99E2F23}"/>
              </a:ext>
            </a:extLst>
          </p:cNvPr>
          <p:cNvGraphicFramePr>
            <a:graphicFrameLocks noGrp="1"/>
          </p:cNvGraphicFramePr>
          <p:nvPr/>
        </p:nvGraphicFramePr>
        <p:xfrm>
          <a:off x="6365875" y="3614017"/>
          <a:ext cx="3860800" cy="5029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406525">
                  <a:extLst>
                    <a:ext uri="{9D8B030D-6E8A-4147-A177-3AD203B41FA5}">
                      <a16:colId xmlns:a16="http://schemas.microsoft.com/office/drawing/2014/main" val="21417690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55651386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14401378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Person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height (feet)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weight (lbs)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72797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sample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</a:rPr>
                        <a:t>6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</a:rPr>
                        <a:t>130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65383"/>
                  </a:ext>
                </a:extLst>
              </a:tr>
            </a:tbl>
          </a:graphicData>
        </a:graphic>
      </p:graphicFrame>
      <p:sp>
        <p:nvSpPr>
          <p:cNvPr id="36" name="설명선: 굽은 선 35">
            <a:extLst>
              <a:ext uri="{FF2B5EF4-FFF2-40B4-BE49-F238E27FC236}">
                <a16:creationId xmlns:a16="http://schemas.microsoft.com/office/drawing/2014/main" id="{6003F766-1218-812A-A9D4-69B850E24D11}"/>
              </a:ext>
            </a:extLst>
          </p:cNvPr>
          <p:cNvSpPr/>
          <p:nvPr/>
        </p:nvSpPr>
        <p:spPr>
          <a:xfrm>
            <a:off x="8372474" y="4406063"/>
            <a:ext cx="3362325" cy="147109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515"/>
              <a:gd name="adj6" fmla="val -3448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Naïve Bayes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알고리즘으로 엑셀과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 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새로운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sample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성별을 분류하라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A95FFE-CD9C-3402-9416-F5D0BA6A9FBD}"/>
              </a:ext>
            </a:extLst>
          </p:cNvPr>
          <p:cNvSpPr txBox="1"/>
          <p:nvPr/>
        </p:nvSpPr>
        <p:spPr>
          <a:xfrm>
            <a:off x="1819275" y="3217521"/>
            <a:ext cx="2962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Stratified random sample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55DC5A-C8E6-16E3-917E-CAD5BFE18B1B}"/>
              </a:ext>
            </a:extLst>
          </p:cNvPr>
          <p:cNvSpPr txBox="1"/>
          <p:nvPr/>
        </p:nvSpPr>
        <p:spPr>
          <a:xfrm>
            <a:off x="7643293" y="3223004"/>
            <a:ext cx="1691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Unseen data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17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63FB0-E7FB-3AEB-DCCD-669F3E94F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8B9FB-1842-4F32-E8B7-C4ACC43D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76CDD5B-F7FB-AA49-3923-6A569A0A37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4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479B33-1D05-E40E-CB97-B7020D9F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2037438"/>
            <a:ext cx="11040080" cy="278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8594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10218</TotalTime>
  <Words>271</Words>
  <Application>Microsoft Office PowerPoint</Application>
  <PresentationFormat>와이드스크린</PresentationFormat>
  <Paragraphs>104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D2Coding</vt:lpstr>
      <vt:lpstr>맑은 고딕</vt:lpstr>
      <vt:lpstr>Batang</vt:lpstr>
      <vt:lpstr>Arial</vt:lpstr>
      <vt:lpstr>Wingdings</vt:lpstr>
      <vt:lpstr>WelcomeDoc</vt:lpstr>
      <vt:lpstr>Machine Learning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172</cp:revision>
  <dcterms:created xsi:type="dcterms:W3CDTF">2026-04-06T01:00:39Z</dcterms:created>
  <dcterms:modified xsi:type="dcterms:W3CDTF">2026-07-14T01:49:10Z</dcterms:modified>
  <cp:version/>
</cp:coreProperties>
</file>